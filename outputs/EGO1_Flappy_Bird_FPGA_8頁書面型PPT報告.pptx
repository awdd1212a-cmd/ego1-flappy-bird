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cbd704f6a7f4ccc" /><Relationship Type="http://schemas.openxmlformats.org/officeDocument/2006/relationships/extended-properties" Target="/docProps/app.xml" Id="Rd1c26688020c41fb" /><Relationship Type="http://schemas.openxmlformats.org/officeDocument/2006/relationships/officeDocument" Target="/ppt/presentation.xml" Id="R2e7a86d7975a49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004f9c9b774be6"/>
  </p:sldMasterIdLst>
  <p:notesMasterIdLst>
    <p:notesMasterId xmlns:r="http://schemas.openxmlformats.org/officeDocument/2006/relationships" r:id="R1f13cfbca28f435d"/>
  </p:notesMasterIdLst>
  <p:sldIdLst>
    <p:sldId xmlns:r="http://schemas.openxmlformats.org/officeDocument/2006/relationships" id="256" r:id="Rfcd56a3f64f3486f"/>
    <p:sldId xmlns:r="http://schemas.openxmlformats.org/officeDocument/2006/relationships" id="257" r:id="R560b83fdeb5a40c9"/>
    <p:sldId xmlns:r="http://schemas.openxmlformats.org/officeDocument/2006/relationships" id="258" r:id="R34244c7838f7461b"/>
    <p:sldId xmlns:r="http://schemas.openxmlformats.org/officeDocument/2006/relationships" id="259" r:id="R910b588047854017"/>
    <p:sldId xmlns:r="http://schemas.openxmlformats.org/officeDocument/2006/relationships" id="260" r:id="Ra6394d5c60fa4f6f"/>
    <p:sldId xmlns:r="http://schemas.openxmlformats.org/officeDocument/2006/relationships" id="261" r:id="R29668cd5b59c4cd3"/>
    <p:sldId xmlns:r="http://schemas.openxmlformats.org/officeDocument/2006/relationships" id="262" r:id="Re48c93496c1a4bc5"/>
    <p:sldId xmlns:r="http://schemas.openxmlformats.org/officeDocument/2006/relationships" id="263" r:id="R4ca85f7806a74ee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9b32df67dd664d69" /><Relationship Type="http://schemas.openxmlformats.org/officeDocument/2006/relationships/slideMaster" Target="/ppt/slideMasters/slideMaster1.xml" Id="R5e004f9c9b774be6" /><Relationship Type="http://schemas.openxmlformats.org/officeDocument/2006/relationships/notesMaster" Target="/ppt/notesMasters/notesMaster1.xml" Id="R1f13cfbca28f435d" /><Relationship Type="http://schemas.openxmlformats.org/officeDocument/2006/relationships/presProps" Target="/ppt/presProps.xml" Id="R7777d52db8b24466" /><Relationship Type="http://schemas.openxmlformats.org/officeDocument/2006/relationships/tableStyles" Target="/ppt/tableStyles.xml" Id="Rc4d1a74c67254e80" /><Relationship Type="http://schemas.openxmlformats.org/officeDocument/2006/relationships/slide" Target="/ppt/slides/slide1.xml" Id="Rfcd56a3f64f3486f" /><Relationship Type="http://schemas.openxmlformats.org/officeDocument/2006/relationships/slide" Target="/ppt/slides/slide2.xml" Id="R560b83fdeb5a40c9" /><Relationship Type="http://schemas.openxmlformats.org/officeDocument/2006/relationships/slide" Target="/ppt/slides/slide3.xml" Id="R34244c7838f7461b" /><Relationship Type="http://schemas.openxmlformats.org/officeDocument/2006/relationships/slide" Target="/ppt/slides/slide4.xml" Id="R910b588047854017" /><Relationship Type="http://schemas.openxmlformats.org/officeDocument/2006/relationships/slide" Target="/ppt/slides/slide5.xml" Id="Ra6394d5c60fa4f6f" /><Relationship Type="http://schemas.openxmlformats.org/officeDocument/2006/relationships/slide" Target="/ppt/slides/slide6.xml" Id="R29668cd5b59c4cd3" /><Relationship Type="http://schemas.openxmlformats.org/officeDocument/2006/relationships/slide" Target="/ppt/slides/slide7.xml" Id="Re48c93496c1a4bc5" /><Relationship Type="http://schemas.openxmlformats.org/officeDocument/2006/relationships/slide" Target="/ppt/slides/slide8.xml" Id="R4ca85f7806a74e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00ca0a26320479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cc0656f83104368" /><Relationship Type="http://schemas.openxmlformats.org/officeDocument/2006/relationships/notesMaster" Target="/ppt/notesMasters/notesMaster1.xml" Id="Re562cbb7e6c046b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4173c21f93e44f2" /><Relationship Type="http://schemas.openxmlformats.org/officeDocument/2006/relationships/notesMaster" Target="/ppt/notesMasters/notesMaster1.xml" Id="Rb3ff72f2e58447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9e3c22527bd42c2" /><Relationship Type="http://schemas.openxmlformats.org/officeDocument/2006/relationships/notesMaster" Target="/ppt/notesMasters/notesMaster1.xml" Id="Rc1c453d89b6c4d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519d267e5cd419e" /><Relationship Type="http://schemas.openxmlformats.org/officeDocument/2006/relationships/notesMaster" Target="/ppt/notesMasters/notesMaster1.xml" Id="R5c16c292c8464dab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cc726b61cea4698" /><Relationship Type="http://schemas.openxmlformats.org/officeDocument/2006/relationships/notesMaster" Target="/ppt/notesMasters/notesMaster1.xml" Id="Rc32bdf4d6047458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a71a646f2e94452" /><Relationship Type="http://schemas.openxmlformats.org/officeDocument/2006/relationships/notesMaster" Target="/ppt/notesMasters/notesMaster1.xml" Id="R25f617330fa442a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dc52df358c641d8" /><Relationship Type="http://schemas.openxmlformats.org/officeDocument/2006/relationships/notesMaster" Target="/ppt/notesMasters/notesMaster1.xml" Id="R6f19886b3e97402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841e162b53a4435" /><Relationship Type="http://schemas.openxmlformats.org/officeDocument/2006/relationships/notesMaster" Target="/ppt/notesMasters/notesMaster1.xml" Id="R76669c0326f74d4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2dfe525938a4cd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abbae74b4b2472d" /><Relationship Type="http://schemas.openxmlformats.org/officeDocument/2006/relationships/slideLayout" Target="/ppt/slideLayouts/slideLayout1.xml" Id="R241739a0fba7495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1739a0fba7495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1100a58e84515" /><Relationship Type="http://schemas.openxmlformats.org/officeDocument/2006/relationships/notesSlide" Target="/ppt/notesSlides/notesSlide1.xml" Id="Rb47855e0742b47e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355d2b427fa4834" /><Relationship Type="http://schemas.openxmlformats.org/officeDocument/2006/relationships/notesSlide" Target="/ppt/notesSlides/notesSlide2.xml" Id="R38d3ccb1bbb94b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42c0713f994cf9" /><Relationship Type="http://schemas.openxmlformats.org/officeDocument/2006/relationships/notesSlide" Target="/ppt/notesSlides/notesSlide3.xml" Id="Ra04c94e3acba417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889d8a782342a6" /><Relationship Type="http://schemas.openxmlformats.org/officeDocument/2006/relationships/notesSlide" Target="/ppt/notesSlides/notesSlide4.xml" Id="R1f67ca0a5d464db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9048da5e6a4637" /><Relationship Type="http://schemas.openxmlformats.org/officeDocument/2006/relationships/notesSlide" Target="/ppt/notesSlides/notesSlide5.xml" Id="R9015a992052b489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dab8874f24493e" /><Relationship Type="http://schemas.openxmlformats.org/officeDocument/2006/relationships/notesSlide" Target="/ppt/notesSlides/notesSlide6.xml" Id="R385fc925c0ce4d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ede27be864035" /><Relationship Type="http://schemas.openxmlformats.org/officeDocument/2006/relationships/notesSlide" Target="/ppt/notesSlides/notesSlide7.xml" Id="R7deda736e6fa45b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7ecc5ee6684b08" /><Relationship Type="http://schemas.openxmlformats.org/officeDocument/2006/relationships/notesSlide" Target="/ppt/notesSlides/notesSlide8.xml" Id="R145eb523ce444da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F03FB1-5B4A-4B0B-B9AE-63CD5B687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76300"/>
            <a:ext cx="5905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EGO1 FPGA</a:t>
            </a:r>
          </a:p>
          <a:p xmlns:a="http://schemas.openxmlformats.org/drawingml/2006/main">
            <a:pPr algn="l"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Flappy Bird 小遊戲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092D2E-3B0A-4937-98DC-4F4ED6827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0575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636963-C423-4421-806D-F42235AD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4800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以 Verilog HDL 在 FPGA 上完成可玩的 Flappy Bird。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3DC53-23EB-41A5-B63D-FAC82ACA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4194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2AF642-5F7B-4B61-BC63-E27641C8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0995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遊戲邏輯、碰撞、計分與 VGA 畫面皆由 RTL 模組實作。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C04089-7F85-4442-A7DC-546C6085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814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2AF363-7640-4390-82EA-681DEA863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71900"/>
            <a:ext cx="6534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正式展示：S4 Reset、S0 Start、S2 Flap，VGA to HDMI 擷取到 OBS。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CE0D8E-6CEE-4450-A680-2C8172C5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990600"/>
            <a:ext cx="233362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09A356-9B79-4FC3-B98D-6A4AC2851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1114425"/>
            <a:ext cx="21812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100 MHz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Clock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B60155-5A80-48B9-B826-ACB3C0C81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0002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47A0EC-2995-47E1-B8C9-22D3F501B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1240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Game Tick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約 60 Hz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65A85-D63E-42A3-BD38-18588974C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1051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8695AD4-6B28-4590-997B-4E2CE7F7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32289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FSM / Logic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Bird / Pipe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A4A46E-8F66-49B5-A71C-01708BF3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0050"/>
            <a:ext cx="2333625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D00CFF-33C8-4980-A4AB-D48467DF7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4333875"/>
            <a:ext cx="2181225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 Renderer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RGB + Sync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20C9E4-91FA-4221-8A08-F5243617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601980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EA580C"/>
                </a:solidFill>
              </a:defRPr>
            </a:pPr>
            <a:r>
              <a:rPr sz="1200" b="1">
                <a:solidFill>
                  <a:srgbClr val="EA580C"/>
                </a:solidFill>
              </a:rPr>
              <a:t>影片連結欄位放在最後一頁</a:t>
            </a:r>
          </a:p>
        </p:txBody>
      </p:sp>
    </p:spTree>
    <p:extLst>
      <p:ext uri="{BB962C8B-B14F-4D97-AF65-F5344CB8AC3E}">
        <p14:creationId xmlns:p14="http://schemas.microsoft.com/office/powerpoint/2010/main" val="107864815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2A322B1-6487-4E06-8B51-314CBAF53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遊戲基本功能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9F1C3-6DF3-44D2-9677-79AF7968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本專題重點是完成一個可操作、可計分、可結束的 FPGA 小遊戲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6B8305-0D2E-4463-91CF-033A7CE2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5CC47A-0D55-4B4F-AC24-9822EC2BF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2/8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8A5646-BFEB-48D8-949A-B17A5639D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54714F-5A3D-48E7-88A5-07097687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3811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FEF3C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27F497-71EE-4AAB-A23C-C0BDB2017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5049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玩法流程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505326-38F8-4EDD-929D-1E10A816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18097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START 等待開始；PLAY 控制小鳥避開管子；碰撞後進入 GAME OVER。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B48F9-978A-4999-824F-B87CB0AE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DEF0FC-EC55-447E-8ED1-ECE18D272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336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DBF87B-67C4-4130-BECD-F77038132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574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遊戲物件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BC2DC3-BC61-4A28-827F-84EF964A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7622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鳥、三組管子、地板與分數都以座標控制，遊戲邏輯可直接判斷。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2EA3A3-FB33-4349-9B60-6F3FC8A91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C37DF6-2DE8-4571-AFC0-A5C111E5A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86125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2A63FD-093B-42D7-A2D3-DE2302E10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4099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完成規則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AD4BC1-C548-4073-9767-DF4DE777F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14750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已完成跳躍、下落、管子移動、碰撞死亡與 +1、+1、+5 計分。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4D4DA0-E95B-4620-9AEB-A128C1A3D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4287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DDD729-38CB-4B55-B719-79459E1A6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5144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開發板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45740EA-DCB2-4CBB-8886-37F625EC6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5144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EGO1 FPGA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AE889B-5ADE-4A75-9C4E-A424DE615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3832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E5A37B-155B-4347-82FB-9BFF2F605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19240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工具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A6E36D-BD92-4D84-90CE-2BC84A5F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92405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Vivado 2017.2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9A40547-0FDB-4557-959F-AF6E5E19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4790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272107-1389-4663-BD50-B4A690030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3336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語言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6F2D012-7920-4EAC-B687-1B4ECB4D3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3362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Verilog HDL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F02C8B-CF69-4F7E-B86B-A9EB5540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65747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38417C4-A993-4694-962D-2275CBC7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4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顯示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AE9F79-3A61-4543-98EB-B8FA02F44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4320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VGA 640x480 @ 60Hz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16B16C-E1DA-4DA5-BDF9-0F0FC722C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67050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48C2FC2-9FDA-4C74-80BD-0AE5285A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1527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輸出路徑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2BA4D3-568B-4FF6-97BD-1D7907E5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52775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VGA -&gt; HDMI 擷取卡 -&gt; OBS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03250C2-42EF-4458-965B-FB6A3889D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76625"/>
            <a:ext cx="371475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80CBDE9-44D9-462F-BFC9-5A9661620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35623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操作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AA43838-B41C-474E-B847-41BDE39FA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62350"/>
            <a:ext cx="2305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S4 Reset / S0 Start / S2 Flap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71078CD-47B0-4F25-9202-20B479B3F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33875"/>
            <a:ext cx="101727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6DD2C2C-7987-4124-BA20-431282E5C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339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專題核心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50B4394-2FCC-40D5-BB44-4CCD94701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狀態控制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A0FF1D-179F-4BB5-92EA-7F142C18B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762500"/>
            <a:ext cx="2333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START、PLAY、GAME OVER 行為明確。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D0ED256-5FD9-4785-86D9-AA9EF01BE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遊戲邏輯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B521DAF-5525-4819-B045-67F8DDD1F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62500"/>
            <a:ext cx="21431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鳥與管子座標、碰撞、計分都有 RTL 實作。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BD60451-06F4-46CA-B8B1-8EC92D313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486275"/>
            <a:ext cx="1428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畫面輸出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9CD89B8E-0001-406D-8629-08866710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47625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VGA 將遊戲狀態與座標畫出來。</a:t>
            </a:r>
          </a:p>
        </p:txBody>
      </p:sp>
    </p:spTree>
    <p:extLst>
      <p:ext uri="{BB962C8B-B14F-4D97-AF65-F5344CB8AC3E}">
        <p14:creationId xmlns:p14="http://schemas.microsoft.com/office/powerpoint/2010/main" val="11399743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B19C6D1-B1DE-4D5D-87E5-AF2FAC8B2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遊戲資料流架構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7BFCE8-F19B-4463-AA77-4F76DB785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按鍵、狀態、物件座標與分數共同形成遊戲流程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CC577E-FDF9-42D0-8A29-B2C78A736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6612C2-7AB7-4D5D-B31D-F28C49B14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3/8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8CAC10-C780-4D88-B990-A8375848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76400"/>
            <a:ext cx="114300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3E6DB3-E370-4313-B1E2-8C3369C3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0225"/>
            <a:ext cx="9906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Board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Buttons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9535E-3FCC-4B62-A058-75A8C2285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379E72-D775-40FF-BF55-88D86A377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676400"/>
            <a:ext cx="123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4729D5-5BFE-4FB3-9760-79462AD6F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800225"/>
            <a:ext cx="108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button_ctrl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pulse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87E6E-0C56-4544-BF67-CA178A8C8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39F847-3F14-4DCC-B51C-9B7FE62D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1676400"/>
            <a:ext cx="12382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0E78576-591A-4D76-B3F4-9DE8245B4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1800225"/>
            <a:ext cx="1085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game_fsm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state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390FD1-15D9-4729-A752-1252D26C7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672BD10-AADF-42CA-B708-E2BFD4D0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1676400"/>
            <a:ext cx="16954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B4475A-437C-4FDC-9568-CA91320E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1800225"/>
            <a:ext cx="1543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bird / pipe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score / collision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CF4799D-9F75-4FAA-B284-DC3EC4D83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F75134-5D4A-4CCC-8861-BA6A6A700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1676400"/>
            <a:ext cx="1381125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59F3D8-EB25-433C-BC50-57A865E8D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800225"/>
            <a:ext cx="12287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vga_renderer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RGB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53DACA-02D3-4A6A-9EB4-E91FB9FC8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2125" y="18859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24B946D-746A-4006-8311-AE4321277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1676400"/>
            <a:ext cx="1047750" cy="64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C74D08F-D23D-4572-9FCF-BCE017A59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9325" y="1800225"/>
            <a:ext cx="8953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VGA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Port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1950A7-A1F5-4911-865A-F69A78378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85750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A580C"/>
                </a:solidFill>
              </a:defRPr>
            </a:pPr>
            <a:r>
              <a:rPr sz="1725" b="1">
                <a:solidFill>
                  <a:srgbClr val="EA580C"/>
                </a:solidFill>
              </a:rPr>
              <a:t>遊戲邏輯整合流程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F42015-B8A7-4E46-8088-793E35030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48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A3A164-84DC-49AA-B8F2-7F2FEB8F5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238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S0 / S2 先轉成 pulse，分別控制開始與跳躍。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9A8D0C5-6977-4322-8249-4444C37D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629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854A301-8071-4457-83B1-DA11452E7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619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FSM 決定目前是等待、遊玩中，或遊戲結束。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905AD32-BAF6-4E29-B55C-91619581E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010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2C74F3F-D76D-4B46-AD0A-983DE2F82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bird / pipe 產生座標，collision 判斷死亡，score 判斷通過管子。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5148BE0-89B6-4DB2-82E9-65B3C277A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3910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580C"/>
                </a:solidFill>
              </a:defRPr>
            </a:pPr>
            <a:r>
              <a:rPr sz="135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183B81B-E7BF-45C0-A3BD-D8F77E0C8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381500"/>
            <a:ext cx="55816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VGA renderer 只負責依照遊戲狀態與座標把畫面畫出來。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8E61904-73CF-4D99-9DAF-D00433B39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86100"/>
            <a:ext cx="4095750" cy="2000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7BA6C2-B996-460A-8581-E2E147D0F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181350"/>
            <a:ext cx="3829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top_vga.v：模組整合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1EC50CA-43D5-47D1-AEB5-5F8FC1DD2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3429000"/>
            <a:ext cx="3829050" cy="1581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button_ctrl  u_button_ctrl(...);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game_fsm     u_game_fsm(...);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bird_ctrl    u_bird_ctrl(...);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pipe_ctrl    u_pipe_ctrl(...);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score_ctrl   u_score_ctrl(...);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collision    u_collision(...);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vga_sync     u_vga_sync(...);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vga_renderer u_vga_renderer(...);</a:t>
            </a:r>
          </a:p>
        </p:txBody>
      </p:sp>
    </p:spTree>
    <p:extLst>
      <p:ext uri="{BB962C8B-B14F-4D97-AF65-F5344CB8AC3E}">
        <p14:creationId xmlns:p14="http://schemas.microsoft.com/office/powerpoint/2010/main" val="107186597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29B43B-A302-4857-80D1-4AAE94021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FSM 與按鍵輸入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29908-3DAC-46E3-BFAF-4C6FB6A8F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遊戲流程用狀態機管理，按鍵先轉成單一 clock pulse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AC6C05-0017-46B9-AEBD-F4A477F0D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B6EF1-AA16-4F6E-B331-7BF7EB8FE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4/8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260CC6-737B-4AD9-94CB-178916D6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4097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DE0D88-7B5E-4DFF-AEB6-80E4C3298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3352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S_IDLE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等待開始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2C61A-7BAF-47DF-8E4F-8EEFCCBEF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16192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3B4F4C5-FFB3-43B1-8C6A-C6920CF13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409700"/>
            <a:ext cx="1524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AC99AC-ABF5-4F42-A5B7-2BEC56BBD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1533525"/>
            <a:ext cx="13716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S_PLAY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更新遊戲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2FE52D-DA2A-4E28-B8A1-7E29660D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619250"/>
            <a:ext cx="323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D3B456-D23A-4F87-BF03-C90FDA0BE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0700" y="1409700"/>
            <a:ext cx="17621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F2B016-BBE6-4E4E-B3BE-D3E14C3CC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533525"/>
            <a:ext cx="16097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S_GAME_OVER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凍結畫面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FDC8DD-3B30-400E-AAFE-055D7080C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1276350"/>
            <a:ext cx="933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start_pulse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4D8E69-311D-4CCC-9DF9-2E6ED057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276350"/>
            <a:ext cx="57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dead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D62C70-1825-4947-95D6-DA9EA11F3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22885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6B7280"/>
                </a:solidFill>
              </a:defRPr>
            </a:pPr>
            <a:r>
              <a:rPr sz="975" b="0">
                <a:solidFill>
                  <a:srgbClr val="6B7280"/>
                </a:solidFill>
              </a:rPr>
              <a:t>start_pulse 回到等待畫面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89A9F-84CC-4194-BF51-C0184E38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81300"/>
            <a:ext cx="4762500" cy="2333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59970B3-EC56-416A-8CF2-161F6063D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76550"/>
            <a:ext cx="4495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game_fsm.v + button_ctrl.v：核心控制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5F3235-9B26-42B8-A044-228A3F2E4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4495800" cy="1914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game_fsm.v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S_IDLE:      if (start_pulse) next_state = S_PLAY;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S_PLAY:      if (dead)        next_state = S_GAME_OVER;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S_GAME_OVER: if (start_pulse) next_state = S_IDLE;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button_ctrl.v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start_pulse = btn_start &amp; ~btn_start_d;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flap_pulse  = btn_flap  &amp; ~btn_flap_d;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F5395C-F4C8-4E78-8D7E-69ED51B4E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781300"/>
            <a:ext cx="4838700" cy="2571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EAEF1E-32CA-44E4-A7B5-04226ABC5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9908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控制邏輯說明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413058-21D9-4419-8630-54529CB84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3718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9084B6-CFC5-4138-A6D4-5DD6C9B7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814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狀態分工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99D25A-F035-4EE9-AC17-78AF115DC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562350"/>
            <a:ext cx="2952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IDLE 等待開始，PLAY 更新遊戲座標，GAME_OVER 保留結束畫面。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E60B31-6C03-4D23-9A59-994B73429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DB106F5-5655-4354-A13B-AA7C06BF2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按鍵處理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DC272A5-C81E-40FD-8ABA-EA34723A0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672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button_ctrl 將 S0 / S2 轉成 one-cycle pulse，避免長按造成多次觸發。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3FFB7E2-4657-49AE-8475-454907474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19650"/>
            <a:ext cx="4286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C58D6A4-93EF-412A-A16C-BDBF1C7B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29200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11827"/>
                </a:solidFill>
              </a:defRPr>
            </a:pPr>
            <a:r>
              <a:rPr sz="1350" b="1">
                <a:solidFill>
                  <a:srgbClr val="111827"/>
                </a:solidFill>
              </a:rPr>
              <a:t>更新節奏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FFD7AFF-C346-4D0A-8AA2-39AF61E31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991100"/>
            <a:ext cx="295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4B5563"/>
                </a:solidFill>
              </a:defRPr>
            </a:pPr>
            <a:r>
              <a:rPr sz="1125" b="0">
                <a:solidFill>
                  <a:srgbClr val="4B5563"/>
                </a:solidFill>
              </a:rPr>
              <a:t>flap_pulse 先在 top_vga 暫存，等下一個 game_tick 才更新鳥的位置。</a:t>
            </a:r>
          </a:p>
        </p:txBody>
      </p:sp>
    </p:spTree>
    <p:extLst>
      <p:ext uri="{BB962C8B-B14F-4D97-AF65-F5344CB8AC3E}">
        <p14:creationId xmlns:p14="http://schemas.microsoft.com/office/powerpoint/2010/main" val="201256475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A2AC9E-2691-45FF-AFF9-02275406C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Bird 與 Pipe 控制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7A23D5-23BF-43A3-8E5C-A4CC36C1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鳥和管子只在 game_tick 更新，讓遊戲速度穩定且可調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897CBE-0DFE-41AD-8787-0B7A757D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2F3467-A2E9-4C4B-AA93-EA45C577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5/8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C69B91-A475-4D04-A8AF-F6B50C91E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286375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1C5116A-D990-4634-B7A9-8F7854DD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24000"/>
            <a:ext cx="5019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bird_ctrl.v + pipe_ctrl.v：移動參數與更新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013433-98DB-4717-A174-5B99287DC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771650"/>
            <a:ext cx="5019675" cy="272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bird_ctrl.v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BIRD_SIZE = 24;  FLAP_STEP = 34;  FALL_STEP = 3;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(flap_pulse) bird_y &lt;= bird_y - FLAP_STEP;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else            bird_y &lt;= bird_y + FALL_STEP;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// pipe_ctrl.v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PIPE_W = 40;  GAP_H = 180;  PIPE_SPEED = 2;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(pipe1_x &gt; PIPE_SPEED) pipe1_x &lt;= pipe1_x - PIPE_SPEED;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else                      pipe1_x &lt;= PIPE1_RECYCLE_X;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4A48E9-707F-437B-BD74-D801FD115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47637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7411F6-C8B8-4E0C-A5A4-C4307F4C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466850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鳥固定 x，只更新 y 座標。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FDE3EA-D144-49FE-9549-764A895C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8595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514483-CFD4-4A1B-83CA-0949E5CD9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1876425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Flap 上升，未按鍵則下落。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CDF6245-CA40-45EF-B9F3-FF56FAE4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95525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C2FD9C-9BFC-43E2-9F2C-DB3274DFD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286000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管子左移，離開畫面後回收。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BC63397-1EC4-4AC2-ABE5-7AC89F3AC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7051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EA580C"/>
                </a:solidFill>
              </a:defRPr>
            </a:pPr>
            <a:r>
              <a:rPr sz="1575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E58C39-A9B0-4A06-98E5-803C48333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95575"/>
            <a:ext cx="3867150" cy="4857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827"/>
                </a:solidFill>
              </a:defRPr>
            </a:pPr>
            <a:r>
              <a:rPr sz="1575" b="0">
                <a:solidFill>
                  <a:srgbClr val="111827"/>
                </a:solidFill>
              </a:rPr>
              <a:t>gap 180、speed 2，展示較穩定。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CE98D4-4AED-4D83-909C-01A9ACF80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8100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5619DD-E1A8-4B7B-84B5-C8AA1D934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8957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Bird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5BA21D-4558-4DEE-B932-E3D3A2390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8957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24x24 pixel-art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20118B-9722-4213-A22E-1977574A4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719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08A8BC-A819-4B04-ADA8-6D7D3589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2576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Flap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B523DA-A255-4060-B9D4-3F8C423C1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25767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每次上移 34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D66A75-D198-4FDE-9C2F-816970EC2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5339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9C4EEF-6EE2-43C6-8444-9E0EA6F33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196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Fall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ADF561-82C4-4247-A890-5F02FE877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6196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 tick 下落 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62646D-BCA8-4457-87C4-113F48EF6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89585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353956-EACF-4B17-8748-EB212F28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98157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Pipe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7E889D-D61B-4F01-82EA-16DF52AC5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98157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寬 40、gap 180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AE31A3-F0A3-45AE-B11A-D8E9FE189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257800"/>
            <a:ext cx="342900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93A464-FDE8-4518-B31F-D77E68A98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5343525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Speed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2BF917B-7661-4706-BB83-CB4BB849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34352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 tick 左移 2</a:t>
            </a:r>
          </a:p>
        </p:txBody>
      </p:sp>
    </p:spTree>
    <p:extLst>
      <p:ext uri="{BB962C8B-B14F-4D97-AF65-F5344CB8AC3E}">
        <p14:creationId xmlns:p14="http://schemas.microsoft.com/office/powerpoint/2010/main" val="126448870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F89F1F-BAB7-4813-846A-45FC8287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Collision 與 Score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37808A-3C2C-4812-B54C-C8318CA46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碰撞用矩形 overlap，計分用前後位置跨越偵測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07D5D9-5372-48E5-9561-E958CF866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DAD903-E064-48C4-A616-AA8DCA3E3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6/8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999DBD-F2D3-4CA6-86E2-4F95B7A6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52550"/>
            <a:ext cx="4905375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6D3FA3-5189-4AF7-B36D-33B32FA1C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447800"/>
            <a:ext cx="46386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collision.v：矩形 overlap 判斷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BA30D9-B239-4C2A-AC7C-06C00AFB5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95450"/>
            <a:ext cx="4638675" cy="3057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pipe1_x_overlap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(bird_right &gt; pipe1_x)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(bird_x &lt; pipe1_x + PIPE_W);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pipe1_hit_top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pipe1_x_overlap &amp;&amp; (bird_y &lt; pipe1_gap_y);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pipe1_hit_bottom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pipe1_x_overlap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(bird_bottom &gt; pipe1_gap_y + PIPE_GAP_H);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dead = hit_ground || pipe1_hit || pipe2_hit || pipe3_hit;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8F6AD4-CA14-4475-B45A-EA94A627B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352550"/>
            <a:ext cx="49530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4F6"/>
          </a:solidFill>
          <a:ln xmlns:a="http://schemas.openxmlformats.org/drawingml/2006/main" w="9525">
            <a:solidFill>
              <a:srgbClr val="D1D5D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FAAB31-F4CF-40FC-865B-1B305C1F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447800"/>
            <a:ext cx="4686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EA580C"/>
                </a:solidFill>
              </a:defRPr>
            </a:pPr>
            <a:r>
              <a:rPr sz="975" b="1">
                <a:solidFill>
                  <a:srgbClr val="EA580C"/>
                </a:solidFill>
              </a:rPr>
              <a:t>score_ctrl.v：每根 pipe 加分，第 3 根 +5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7750E-1659-477A-A237-5A5298FE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95450"/>
            <a:ext cx="4686300" cy="3057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assign pipe1_passed =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(pipe1_right_prev &gt;= bird_x_ext)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 &lt; bird_x_ext) &amp;&amp;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(pipe1_right &lt; SCREEN_W);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if (any_pipe_passed)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if (passed_pipe_count == 2'd2)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score &lt;= score + SCORE_STEP_BONUS;  // +5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passed_pipe_count &lt;= 2'd0;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end else begin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score &lt;= score + SCORE_STEP_NORMAL; // +1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  passed_pipe_count &lt;= passed_pipe_count + 2'd1;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  end</a:t>
            </a:r>
          </a:p>
          <a:p xmlns:a="http://schemas.openxmlformats.org/drawingml/2006/main">
            <a:pPr algn="l">
              <a:defRPr sz="975" b="0">
                <a:solidFill>
                  <a:srgbClr val="111827"/>
                </a:solidFill>
              </a:defRPr>
            </a:pPr>
            <a:r>
              <a:rPr sz="975" b="0">
                <a:solidFill>
                  <a:srgbClr val="111827"/>
                </a:solidFill>
              </a:rPr>
              <a:t>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C1E4BF9-3FB5-4ABB-9E5F-3B9CFF1D1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2197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預期分數序列：01 → 02 → 07 → 08 → 09 → 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E0533F-700B-4923-A870-2FE6F9A1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600700"/>
            <a:ext cx="857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4B5563"/>
                </a:solidFill>
              </a:defRPr>
            </a:pPr>
            <a:r>
              <a:rPr sz="1275" b="0">
                <a:solidFill>
                  <a:srgbClr val="4B5563"/>
                </a:solidFill>
              </a:rPr>
              <a:t>重點：用 previous/current pipe_right 跨越 bird_x 偵測通過，避免同一根 pipe 在多個 clock 內重複加分。</a:t>
            </a:r>
          </a:p>
        </p:txBody>
      </p:sp>
    </p:spTree>
    <p:extLst>
      <p:ext uri="{BB962C8B-B14F-4D97-AF65-F5344CB8AC3E}">
        <p14:creationId xmlns:p14="http://schemas.microsoft.com/office/powerpoint/2010/main" val="51260986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1116B57-1BD4-44CC-B25C-3CE2477F3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VGA 顯示重點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25009E-490E-43B5-AA02-6B8EAE89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VGA 負責把遊戲狀態與座標轉成畫面輸出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6D1C84-FEAC-43AC-8F54-CDA5D6DFE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EB2EA6-C891-44AF-82D4-F03FA4B24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7/8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0AB67D-FB2B-4790-BA0C-922A79665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D42773-9070-4822-B1CA-AE3FDCBB3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DBEAF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92C0E8-E4C6-4FBC-AD5E-4E8DD750E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掃描座標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2CF4D6-2853-4A25-AD5A-26FE2A2B2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724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產生 pixel_x / pixel_y，定位目前像素。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0663D1-F17F-4FF3-BB5E-070919658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6A3545-DF9B-4070-A68D-D4F23DEA6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DCFC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03DEA2-0B2D-457E-BDF2-297B371A3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畫面判斷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051689-5773-4E44-9A84-CDE02DF71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867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判斷像素屬於鳥、管子、分數或文字。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61E38E-0B99-4567-B217-DC4EE3D9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52863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FF62AA-184F-4B05-A438-2D1ACD181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147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FEE2E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7B46D7-8504-4FB9-B88C-D4CF51ED9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A580C"/>
                </a:solidFill>
              </a:defRPr>
            </a:pPr>
            <a:r>
              <a:rPr sz="1650" b="1">
                <a:solidFill>
                  <a:srgbClr val="EA580C"/>
                </a:solidFill>
              </a:rPr>
              <a:t>RGB 輸出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FEFA03-5B58-4CB2-82CD-50EFE2734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100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111827"/>
                </a:solidFill>
              </a:defRPr>
            </a:pPr>
            <a:r>
              <a:rPr sz="1350" b="0">
                <a:solidFill>
                  <a:srgbClr val="111827"/>
                </a:solidFill>
              </a:rPr>
              <a:t>輸出 12-bit RGB 與同步訊號。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BEEE35-9EAA-4927-B6A2-8EA4C0423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428750"/>
            <a:ext cx="3619500" cy="2714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5FE893-9639-40ED-8E17-A4599042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810000"/>
            <a:ext cx="3619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8350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C2F131-A462-4980-A32B-87F9C1624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000250"/>
            <a:ext cx="323850" cy="1619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2C55E"/>
          </a:solidFill>
          <a:ln xmlns:a="http://schemas.openxmlformats.org/drawingml/2006/main" w="9525">
            <a:solidFill>
              <a:srgbClr val="15803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A498A7B-CAE5-4920-8644-0C0C659F3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3238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FAFE"/>
          </a:solidFill>
          <a:ln xmlns:a="http://schemas.openxmlformats.org/drawingml/2006/main" w="9525">
            <a:solidFill>
              <a:srgbClr val="CFFAF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60DD0AA-CB69-494B-A9E6-439EF777A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2790825"/>
            <a:ext cx="2286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ACC15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C2107B-2457-4ED5-9B20-AD0FE560F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0975" y="2876550"/>
            <a:ext cx="95250" cy="666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7316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EED17F6-0E32-4C54-AD48-D3491E00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838450"/>
            <a:ext cx="571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1182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9BC3512-ABE9-47EA-9274-83D90FD1D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476750"/>
            <a:ext cx="36195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0C264D-C584-4757-B024-364A7D8B0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46767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這頁重點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6EDF4F-53E3-42CA-A80F-2A750C9A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95825"/>
            <a:ext cx="2000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111827"/>
                </a:solidFill>
              </a:defRPr>
            </a:pPr>
            <a:r>
              <a:rPr sz="1200" b="0">
                <a:solidFill>
                  <a:srgbClr val="111827"/>
                </a:solidFill>
              </a:rPr>
              <a:t>VGA 只負責顯示，遊戲規則已在前面模組完成。</a:t>
            </a:r>
          </a:p>
        </p:txBody>
      </p:sp>
    </p:spTree>
    <p:extLst>
      <p:ext uri="{BB962C8B-B14F-4D97-AF65-F5344CB8AC3E}">
        <p14:creationId xmlns:p14="http://schemas.microsoft.com/office/powerpoint/2010/main" val="12414451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4C329-9DEA-4857-8DDD-8FF25904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"/>
            <a:ext cx="533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EA580C"/>
                </a:solidFill>
              </a:defRPr>
            </a:pPr>
            <a:r>
              <a:rPr sz="1050" b="1">
                <a:solidFill>
                  <a:srgbClr val="EA580C"/>
                </a:solidFill>
              </a:rPr>
              <a:t>成果展示與影片連結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611F73-1949-43EC-84EF-5F4934B2B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"/>
            <a:ext cx="10001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111827"/>
                </a:solidFill>
              </a:defRPr>
            </a:pPr>
            <a:r>
              <a:rPr sz="2625" b="1">
                <a:solidFill>
                  <a:srgbClr val="111827"/>
                </a:solidFill>
              </a:rPr>
              <a:t>最終版本已完成可上板展示的 FPGA 小遊戲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E1F012-80BE-48C7-BE5B-2E5CDAB4B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104900"/>
            <a:ext cx="10858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D165C4-7012-4DD6-A843-A4CBFF7CB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6400800"/>
            <a:ext cx="1619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6B7280"/>
                </a:solidFill>
              </a:defRPr>
            </a:pPr>
            <a:r>
              <a:rPr sz="750" b="0">
                <a:solidFill>
                  <a:srgbClr val="6B7280"/>
                </a:solidFill>
              </a:rPr>
              <a:t>EGO1 FPGA Flappy Bird | 8/8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5E6D01-C732-4BAB-B7CA-489E9F04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81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33265A-E4CE-4F4C-A6A7-0694B2D9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466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VGA 顯示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E2D4CFF-FF06-4CCD-AACC-2F99EF335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466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640x480 @ 60Hz 成功輸出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23F85E-F2CC-46DF-A93B-0BF73C45F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35FE69-1F8C-4545-ADCD-64CAEE00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847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遊戲操作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925C8D-CEA9-4D6E-BC9A-F1D1E466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1847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S0 開始、S2 跳躍、S4 reset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147AC7-F5AA-4326-82B1-23EA5A4DF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322022-F2B1-4FCD-BA20-7A02A1150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228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畫面狀態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ED2758-94E7-47B1-9C2B-03CC550F5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228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START / PLAY / GAME OVER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175AE28-949F-4BE9-A8A0-1238C53B1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24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111948-A925-4DF9-BD0C-E55AEBAC3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09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遊戲內容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DCE430-042E-45A5-938E-210D5F292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609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鳥、管子、天空、雲、地板、分數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78C0B8-06EF-43EC-8D0A-8A2089B57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05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9FAFB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7566CB-34BF-4E97-AFB2-E0CBAE31C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990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計分規則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CEDAFD6-44ED-40B2-B136-609838E8C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990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每根 pipe 加分，+1、+1、+5 循環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E22DAF-576C-44D0-BB71-6160E879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86125"/>
            <a:ext cx="4953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FDA4B1-5017-467C-A690-B5E7D381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37185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B5563"/>
                </a:solidFill>
              </a:defRPr>
            </a:pPr>
            <a:r>
              <a:rPr sz="1125" b="1">
                <a:solidFill>
                  <a:srgbClr val="4B5563"/>
                </a:solidFill>
              </a:rPr>
              <a:t>Bitstream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686F45-D5C0-4C4A-9E63-018840F78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3371850"/>
            <a:ext cx="3543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111827"/>
                </a:solidFill>
              </a:defRPr>
            </a:pPr>
            <a:r>
              <a:rPr sz="1125" b="0">
                <a:solidFill>
                  <a:srgbClr val="111827"/>
                </a:solidFill>
              </a:rPr>
              <a:t>D:\ego1_top_vga_build\bitstream\top_vga.bit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21E975-B4E3-4C87-8882-13F4EE1B5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381125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EA580C"/>
                </a:solidFill>
              </a:defRPr>
            </a:pPr>
            <a:r>
              <a:rPr sz="1800" b="1">
                <a:solidFill>
                  <a:srgbClr val="EA580C"/>
                </a:solidFill>
              </a:rPr>
              <a:t>Demo 檢查流程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2262952-07AF-4723-9C02-86EE87776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866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2A6E4F-36F1-4614-836E-372C55B4D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857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燒錄最終 bitstream。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BB7AB06-FC6A-4AAD-8D77-C56B93345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247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C5405B3-7840-4314-A24E-2403A1975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238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確認 VGA 畫面出現 START。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D4FC06-AC7E-4DF4-98E7-3352B3602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628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F66829-70B7-4350-9801-E8BC7165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619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按 S0 進入 PLAY。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6D54FBD-7A5D-43EA-B205-F94FE0CB4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009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8E4D70-58D9-4D88-80C9-CF8E3588E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00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按 S2 控制小鳥跳躍。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04C78F3-3CB8-4171-91DC-C78C42024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90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14D432B-656D-4E94-BA42-16A125BE7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81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通過 pipe 後分數增加。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BA3B98-F258-48F5-96B4-4B37F01F3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771900"/>
            <a:ext cx="171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•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7314F3-ABA1-4D38-B8F5-12464999E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62375"/>
            <a:ext cx="38671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11827"/>
                </a:solidFill>
              </a:defRPr>
            </a:pPr>
            <a:r>
              <a:rPr sz="1500" b="0">
                <a:solidFill>
                  <a:srgbClr val="111827"/>
                </a:solidFill>
              </a:rPr>
              <a:t>碰撞後顯示 GAME OVER。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5545C5E-88E6-4CFA-8409-4EF92B15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05375"/>
            <a:ext cx="72390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DBA74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28EB3DD-C383-40CB-B243-756D4C93E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105400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A580C"/>
                </a:solidFill>
              </a:defRPr>
            </a:pPr>
            <a:r>
              <a:rPr sz="1500" b="1">
                <a:solidFill>
                  <a:srgbClr val="EA580C"/>
                </a:solidFill>
              </a:rPr>
              <a:t>影片連結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7EDAED1-5AF1-48C5-A9AC-D5A21A529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124450"/>
            <a:ext cx="542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111827"/>
                </a:solidFill>
              </a:defRPr>
            </a:pPr>
            <a:r>
              <a:rPr sz="1275" b="0">
                <a:solidFill>
                  <a:srgbClr val="111827"/>
                </a:solidFill>
              </a:rPr>
              <a:t>請貼上最終展示影片 URL：________________________________________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AF55F8-D7A8-40B3-9C9C-3AF74A0C1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467350"/>
            <a:ext cx="657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4B5563"/>
                </a:solidFill>
              </a:defRPr>
            </a:pPr>
            <a:r>
              <a:rPr sz="1050" b="0">
                <a:solidFill>
                  <a:srgbClr val="4B5563"/>
                </a:solidFill>
              </a:rPr>
              <a:t>影片建議內容：START 畫面、按鍵操作、分數增加、GAME OVER 結果。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5341266-0FCB-476C-A231-F813EE3A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57750"/>
            <a:ext cx="233362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F661FEE-002C-4A73-83E6-E676FBCD7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4981575"/>
            <a:ext cx="218122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GitHub Repo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https://github.com/awdd1212a-cmd/</a:t>
            </a:r>
          </a:p>
          <a:p xmlns:a="http://schemas.openxmlformats.org/drawingml/2006/main">
            <a:pPr algn="ctr">
              <a:defRPr sz="1200" b="1">
                <a:solidFill>
                  <a:srgbClr val="111827"/>
                </a:solidFill>
              </a:defRPr>
            </a:pPr>
            <a:r>
              <a:rPr sz="1200" b="1">
                <a:solidFill>
                  <a:srgbClr val="111827"/>
                </a:solidFill>
              </a:rPr>
              <a:t>ego1-flappy-bird</a:t>
            </a:r>
          </a:p>
        </p:txBody>
      </p:sp>
    </p:spTree>
    <p:extLst>
      <p:ext uri="{BB962C8B-B14F-4D97-AF65-F5344CB8AC3E}">
        <p14:creationId xmlns:p14="http://schemas.microsoft.com/office/powerpoint/2010/main" val="80751611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2026-07-21T09:54:05.2480000Z</dcterms:created>
  <dcterms:modified xsi:type="dcterms:W3CDTF">2026-07-21T09:54:05.2480000Z</dcterms:modified>
</coreProperties>
</file>